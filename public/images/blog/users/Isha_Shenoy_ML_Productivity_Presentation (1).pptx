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5143500" cy="9144000"/>
  <p:embeddedFontLst>
    <p:embeddedFont>
      <p:font typeface="Int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PmhXuDc8uqxT/zYusHdgiOnwH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1E5BB2-D7C2-4537-A615-A6C0F1C8EA38}">
  <a:tblStyle styleId="{7C1E5BB2-D7C2-4537-A615-A6C0F1C8EA3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slide" Target="slides/slide20.xml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2D2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65749" y="731525"/>
            <a:ext cx="3905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Arial Black"/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PRIVACY-CONSCIOUS</a:t>
            </a:r>
            <a:br>
              <a:rPr b="1" i="0" lang="en-US" sz="2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i="0" sz="2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Arial Black"/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ML SYSTEM</a:t>
            </a:r>
            <a:br>
              <a:rPr b="1" i="0" lang="en-US" sz="2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i="0" sz="2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Arial Black"/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</a:t>
            </a:r>
            <a:br>
              <a:rPr b="1" i="0" lang="en-US" sz="2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i="0" sz="2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Arial Black"/>
              <a:buNone/>
            </a:pPr>
            <a:r>
              <a:rPr b="1" i="0" lang="en-US" sz="2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PRODUCTIVITY</a:t>
            </a:r>
            <a:endParaRPr i="0" sz="2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402336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Design for ethics, privacy, and effective self-regulation</a:t>
            </a:r>
            <a:endParaRPr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754880" y="4389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5F5F0"/>
                </a:solidFill>
                <a:latin typeface="Inter"/>
                <a:ea typeface="Inter"/>
                <a:cs typeface="Inter"/>
                <a:sym typeface="Inter"/>
              </a:rPr>
              <a:t>Isha Shenoy  ·  </a:t>
            </a:r>
            <a:r>
              <a:rPr lang="en-US" sz="1100">
                <a:solidFill>
                  <a:srgbClr val="F5F5F0"/>
                </a:solidFill>
                <a:latin typeface="Inter"/>
                <a:ea typeface="Inter"/>
                <a:cs typeface="Inter"/>
                <a:sym typeface="Inter"/>
              </a:rPr>
              <a:t>Management </a:t>
            </a:r>
            <a:r>
              <a:rPr i="0" lang="en-US" sz="1100" u="none" cap="none" strike="noStrike">
                <a:solidFill>
                  <a:srgbClr val="F5F5F0"/>
                </a:solidFill>
                <a:latin typeface="Inter"/>
                <a:ea typeface="Inter"/>
                <a:cs typeface="Inter"/>
                <a:sym typeface="Inter"/>
              </a:rPr>
              <a:t>Engineering  ·  March 2026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C8EBEB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65760" y="4572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65760" y="1280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WHAT PRODUCTIVITY TOOLS ARE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65760" y="160020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Software features that shape how </a:t>
            </a: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users </a:t>
            </a:r>
            <a:r>
              <a:rPr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focus, study, and manage digital time.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65760" y="22860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WHEN THEY BECOME HARMFUL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65760" y="260604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Simple timers offer no insight; surveillance tools erode trust and student autonomy.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65760" y="32918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WHY DESIGN MATTERS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65760" y="361188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roductivity apps make engagement an ethical engineering decision with real measurable outcomes.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135880" y="731520"/>
            <a:ext cx="1554600" cy="1097400"/>
          </a:xfrm>
          <a:prstGeom prst="rect">
            <a:avLst/>
          </a:prstGeom>
          <a:solidFill>
            <a:srgbClr val="C8D8C8"/>
          </a:solidFill>
          <a:ln cap="flat" cmpd="sng" w="12700">
            <a:solidFill>
              <a:srgbClr val="C8D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135880" y="731520"/>
            <a:ext cx="1554600" cy="1097400"/>
          </a:xfrm>
          <a:prstGeom prst="rect">
            <a:avLst/>
          </a:prstGeom>
          <a:solidFill>
            <a:srgbClr val="C8EBE0"/>
          </a:solidFill>
          <a:ln cap="flat" cmpd="sng" w="952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Simple Timers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964680" y="731520"/>
            <a:ext cx="1554600" cy="1097400"/>
          </a:xfrm>
          <a:prstGeom prst="rect">
            <a:avLst/>
          </a:prstGeom>
          <a:solidFill>
            <a:srgbClr val="A3B8A3"/>
          </a:solidFill>
          <a:ln cap="flat" cmpd="sng" w="12700">
            <a:solidFill>
              <a:srgbClr val="A3B8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964680" y="731520"/>
            <a:ext cx="1554600" cy="1097400"/>
          </a:xfrm>
          <a:prstGeom prst="rect">
            <a:avLst/>
          </a:prstGeom>
          <a:solidFill>
            <a:srgbClr val="C8E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Surveillance Tools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050280" y="2194560"/>
            <a:ext cx="1554600" cy="1097400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050280" y="2194560"/>
            <a:ext cx="1554600" cy="1097400"/>
          </a:xfrm>
          <a:prstGeom prst="rect">
            <a:avLst/>
          </a:prstGeom>
          <a:solidFill>
            <a:srgbClr val="4ABC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Privacy Gap ↓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480560" y="3566160"/>
            <a:ext cx="4389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300"/>
              <a:buFont typeface="Arial"/>
              <a:buNone/>
            </a:pPr>
            <a:r>
              <a:rPr i="1" lang="en-US" sz="1300" u="none" cap="none" strike="noStrike">
                <a:solidFill>
                  <a:srgbClr val="4A7C59"/>
                </a:solidFill>
                <a:latin typeface="Inter"/>
                <a:ea typeface="Inter"/>
                <a:cs typeface="Inter"/>
                <a:sym typeface="Inter"/>
              </a:rPr>
              <a:t>There is a clear market gap for a balanced, ethical productivity assistant.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C8EBEB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65760" y="4572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SCALE &amp; URGENCY</a:t>
            </a:r>
            <a:endParaRPr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1280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Student-level exposure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5760" y="160020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Most 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people 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face digital distraction daily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small design choices in apps scale into large academic effects.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5760" y="22860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Measurable well-being impacts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5760" y="260604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Research links interruptions with increased stress, reduced efficiency, and compulsive checking behaviors.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65760" y="32918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Design incentives &amp; predictability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65760" y="361188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Endless feeds, notifications, and passive consumption optimize for time spent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creating predictable harms.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0" y="1487198"/>
            <a:ext cx="4206300" cy="18288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572000" y="1578638"/>
            <a:ext cx="420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23 min</a:t>
            </a:r>
            <a:endParaRPr i="0" sz="5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0" y="2493038"/>
            <a:ext cx="4206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average time to refocus after an interruption (Mark et al., 2008)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4A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365760" y="4572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ENGINEERING &amp;</a:t>
            </a:r>
            <a:endParaRPr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ETHICAL GAP</a:t>
            </a:r>
            <a:endParaRPr i="0" sz="24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365760" y="1554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'SUCCESS' CURRENTLY MEASURES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365760" y="18745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Teams optimize for DAU, session length, and engagement</a:t>
            </a: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easy to track and monetizable.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365760" y="25603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ISN'T MEASURED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65760" y="28803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There's rarely a system to detect regret, compulsion, or long-term harm</a:t>
            </a: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 harmful use is amplified.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65760" y="3566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CORE ENGINEERING CHALLENGE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365760" y="388620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Build evaluation frameworks into development workflows</a:t>
            </a: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 ethics isn't only addressed after backlash.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480560" y="640080"/>
            <a:ext cx="2103120" cy="3200400"/>
          </a:xfrm>
          <a:prstGeom prst="rect">
            <a:avLst/>
          </a:prstGeom>
          <a:solidFill>
            <a:srgbClr val="C8EBEB"/>
          </a:solidFill>
          <a:ln cap="flat" cmpd="sng" w="12700">
            <a:solidFill>
              <a:srgbClr val="C8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766560" y="640080"/>
            <a:ext cx="2103120" cy="32004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4A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480560" y="68580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Current Tools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766560" y="68580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Proposed System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480560" y="11887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Surveillance-based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766560" y="11887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Privacy-first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480560" y="16002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Binary classification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766560" y="16002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Probabilistic model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4480560" y="2011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Invasive data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766560" y="20116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Anonymous metadata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480560" y="24231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Enforcement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6766560" y="24231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Self-regulation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480560" y="2834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No user consent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766560" y="2834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 autonomy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365760" y="45720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STRATEGIES FOR</a:t>
            </a:r>
            <a:endParaRPr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PRIVACY-CONSCIOUS</a:t>
            </a:r>
            <a:endParaRPr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PRODUCTIVITY</a:t>
            </a:r>
            <a:endParaRPr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65760" y="2011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STRICT MONITORING &amp; BLOCKING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365760" y="23317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Records activity and blocks distracting sites. Fast to implement but invasive and trust-destroying.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365760" y="29718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PASSIVE DATA-INTENSIVE ANALYTICS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365760" y="32918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Deep-learning on mouse/browsing data for detailed reports. Powerful but raises severe privacy concerns.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65760" y="39319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PROBABILISTIC PRIVACY-CENTRIC ASSISTANT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365760" y="425196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Anonymized metadata + lightweight ML for supportive feedback. Balances ethics, scalability, and feasibility.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442160" y="2160273"/>
            <a:ext cx="4297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These options differ in privacy, scalability, and long-term impac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t: 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supporting the ethical assistant as the optimal path.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C8EBEB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4480560" y="45720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STRATEGY COMPARISON</a:t>
            </a:r>
            <a:endParaRPr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4480560" y="11887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Strict Monitoring &amp; Blocking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4480560" y="15087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Strength: easy to deploy quickly.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4480560" y="17830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Arial"/>
              <a:buNone/>
            </a:pPr>
            <a:r>
              <a:rPr i="1" lang="en-US" sz="11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Limitation: destroys user trust; engagement logic unchanged.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480560" y="228600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Passive Data-Intensive Analytics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480560" y="260604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Strength: explains why distraction occurs at a deep level.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480560" y="28803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Arial"/>
              <a:buNone/>
            </a:pPr>
            <a:r>
              <a:rPr i="1" lang="en-US" sz="11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Limitation: privacy violations; unclear implementation paths.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4480560" y="33832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Probabilistic Privacy-Centric Assistant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480560" y="370332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Strength: turns values into measurable criteria; scales via reviews and A/B tests.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4480560" y="4096565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Arial"/>
              <a:buNone/>
            </a:pPr>
            <a:r>
              <a:rPr i="1" lang="en-US" sz="110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Limitation: not yet industry-standard, but fits existing workflows.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DDDDDD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1371600" y="137160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4444"/>
              </a:buClr>
              <a:buSzPts val="3600"/>
              <a:buFont typeface="Calibri"/>
              <a:buNone/>
            </a:pPr>
            <a:r>
              <a:rPr i="0" lang="en-US" sz="3600" u="none" cap="none" strike="noStrike">
                <a:solidFill>
                  <a:srgbClr val="AA4444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  <a:endParaRPr i="0" sz="3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1371600" y="3017520"/>
            <a:ext cx="1371600" cy="1371600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371600" y="301752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i="0" sz="3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365760" y="45720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WHY THIS</a:t>
            </a:r>
            <a:endParaRPr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SYSTEM</a:t>
            </a:r>
            <a:endParaRPr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365760" y="18288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Fits real workflows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365760" y="21488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Extends existing development practices instead of requiring radical infrastructure shifts.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365760" y="27889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Works with profitability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365760" y="310896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Privacy-first design builds trust. Universities and subscription users reward ethical tools with loyalty.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365760" y="37490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Adoptable under constraints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365760" y="40690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Pragmatic and incremental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aligned with team incentives so engineers can actually ship it.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5535490" y="640080"/>
            <a:ext cx="1371600" cy="1188600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5535490" y="640080"/>
            <a:ext cx="1371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Privacy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First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6998530" y="1645920"/>
            <a:ext cx="1371600" cy="1188600"/>
          </a:xfrm>
          <a:prstGeom prst="ellipse">
            <a:avLst/>
          </a:prstGeom>
          <a:solidFill>
            <a:srgbClr val="6B4F8C"/>
          </a:solidFill>
          <a:ln cap="flat" cmpd="sng" w="12700">
            <a:solidFill>
              <a:srgbClr val="6B4F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6998530" y="1645920"/>
            <a:ext cx="1371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Student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Well-being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5535490" y="2651760"/>
            <a:ext cx="1371600" cy="1188600"/>
          </a:xfrm>
          <a:prstGeom prst="ellipse">
            <a:avLst/>
          </a:prstGeom>
          <a:solidFill>
            <a:srgbClr val="4ABCBC"/>
          </a:solidFill>
          <a:ln cap="flat" cmpd="sng" w="12700">
            <a:solidFill>
              <a:srgbClr val="4A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5535490" y="2651760"/>
            <a:ext cx="1371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Business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Viability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6998530" y="3474720"/>
            <a:ext cx="1371600" cy="1188600"/>
          </a:xfrm>
          <a:prstGeom prst="ellipse">
            <a:avLst/>
          </a:prstGeom>
          <a:solidFill>
            <a:srgbClr val="B5804A"/>
          </a:solidFill>
          <a:ln cap="flat" cmpd="sng" w="12700">
            <a:solidFill>
              <a:srgbClr val="B58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6998530" y="3474720"/>
            <a:ext cx="1371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Ethical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365760" y="4572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HARMFUL FEATURES</a:t>
            </a:r>
            <a:endParaRPr i="0" sz="2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OF CURRENT TOOLS</a:t>
            </a:r>
            <a:endParaRPr i="0" sz="2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365760" y="1554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MECHANISMS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365760" y="187452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Infinite scroll removes stopping cues; autoplay removes choice; notifications prompt compulsive checking; personalization amplifies what 'hooks' students.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365760" y="2665502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COGNITIVE TARGET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365760" y="292608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These features bias fast System 1 behavior, bypassing slower reflection and raising compulsive use risk among students.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365760" y="3717062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WHY IT MATTERS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365760" y="397764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Each feature seems 'convenient' but together make disengagement effortful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clear targets for ethical redesign.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5029200" y="822960"/>
            <a:ext cx="274320" cy="274320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"/>
          <p:cNvSpPr/>
          <p:nvPr/>
        </p:nvSpPr>
        <p:spPr>
          <a:xfrm>
            <a:off x="6858000" y="1005840"/>
            <a:ext cx="274320" cy="274320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5943600" y="1828800"/>
            <a:ext cx="274320" cy="274320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"/>
          <p:cNvSpPr/>
          <p:nvPr/>
        </p:nvSpPr>
        <p:spPr>
          <a:xfrm>
            <a:off x="8046720" y="2103120"/>
            <a:ext cx="274320" cy="274320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4754880" y="2560320"/>
            <a:ext cx="274320" cy="274320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"/>
          <p:cNvSpPr/>
          <p:nvPr/>
        </p:nvSpPr>
        <p:spPr>
          <a:xfrm>
            <a:off x="6400800" y="3017520"/>
            <a:ext cx="274320" cy="274320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7772400" y="3474720"/>
            <a:ext cx="274320" cy="274320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5486400" y="3931920"/>
            <a:ext cx="274320" cy="274320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9" name="Google Shape;159;p11"/>
          <p:cNvCxnSpPr/>
          <p:nvPr/>
        </p:nvCxnSpPr>
        <p:spPr>
          <a:xfrm>
            <a:off x="5166360" y="960120"/>
            <a:ext cx="914400" cy="1005840"/>
          </a:xfrm>
          <a:prstGeom prst="straightConnector1">
            <a:avLst/>
          </a:prstGeom>
          <a:noFill/>
          <a:ln cap="flat" cmpd="sng" w="19050">
            <a:solidFill>
              <a:srgbClr val="AACC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11"/>
          <p:cNvCxnSpPr/>
          <p:nvPr/>
        </p:nvCxnSpPr>
        <p:spPr>
          <a:xfrm flipH="1">
            <a:off x="6080760" y="1143000"/>
            <a:ext cx="914400" cy="822960"/>
          </a:xfrm>
          <a:prstGeom prst="straightConnector1">
            <a:avLst/>
          </a:prstGeom>
          <a:noFill/>
          <a:ln cap="flat" cmpd="sng" w="19050">
            <a:solidFill>
              <a:srgbClr val="AACC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11"/>
          <p:cNvCxnSpPr/>
          <p:nvPr/>
        </p:nvCxnSpPr>
        <p:spPr>
          <a:xfrm flipH="1">
            <a:off x="4892040" y="1965960"/>
            <a:ext cx="1188720" cy="731520"/>
          </a:xfrm>
          <a:prstGeom prst="straightConnector1">
            <a:avLst/>
          </a:prstGeom>
          <a:noFill/>
          <a:ln cap="flat" cmpd="sng" w="19050">
            <a:solidFill>
              <a:srgbClr val="AACC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11"/>
          <p:cNvCxnSpPr/>
          <p:nvPr/>
        </p:nvCxnSpPr>
        <p:spPr>
          <a:xfrm flipH="1">
            <a:off x="6537960" y="2240280"/>
            <a:ext cx="1645920" cy="914400"/>
          </a:xfrm>
          <a:prstGeom prst="straightConnector1">
            <a:avLst/>
          </a:prstGeom>
          <a:noFill/>
          <a:ln cap="flat" cmpd="sng" w="19050">
            <a:solidFill>
              <a:srgbClr val="AACC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11"/>
          <p:cNvCxnSpPr/>
          <p:nvPr/>
        </p:nvCxnSpPr>
        <p:spPr>
          <a:xfrm>
            <a:off x="4892040" y="2697480"/>
            <a:ext cx="3017520" cy="914400"/>
          </a:xfrm>
          <a:prstGeom prst="straightConnector1">
            <a:avLst/>
          </a:prstGeom>
          <a:noFill/>
          <a:ln cap="flat" cmpd="sng" w="19050">
            <a:solidFill>
              <a:srgbClr val="AACCA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11"/>
          <p:cNvCxnSpPr/>
          <p:nvPr/>
        </p:nvCxnSpPr>
        <p:spPr>
          <a:xfrm flipH="1">
            <a:off x="5623560" y="3154680"/>
            <a:ext cx="914400" cy="914400"/>
          </a:xfrm>
          <a:prstGeom prst="straightConnector1">
            <a:avLst/>
          </a:prstGeom>
          <a:noFill/>
          <a:ln cap="flat" cmpd="sng" w="19050">
            <a:solidFill>
              <a:srgbClr val="AACCA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314559" y="2023050"/>
            <a:ext cx="3474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i="1" lang="en-US" sz="13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Design matters more than time spent.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i="1" lang="en-US" sz="13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Harms track with passive consumption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i="1" lang="en-US" sz="13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and loss of control, not active use.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4480560" y="45720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DATA LINKS TO HARM</a:t>
            </a:r>
            <a:endParaRPr i="0" sz="1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4480560" y="11887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CONSISTENT ASSOCIATION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4480560" y="1508760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Compulsive smartphone use correlates with lower well-being and higher stress, anxiety, and sleep disruption.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4480560" y="22402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DESIGN MATTERS MORE THAN TIME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4480560" y="2560320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Harms track more strongly with passive consumption and loss of control than active, goal-directed use.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4480560" y="32918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OPERATIONALIZE WELL-BEING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4480560" y="3611880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Use measurable proxies: late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night usage, rapid session repetition, and frequent task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switching.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365760" y="45720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DESIGN CHOICES,</a:t>
            </a:r>
            <a:endParaRPr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NOT CONTENT</a:t>
            </a:r>
            <a:endParaRPr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365760" y="1737360"/>
            <a:ext cx="3474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core issue is engagement-optimized design, not the specific content students consume. The same study material can support autonomy or trigger compulsive behavior depending on how it is delivered.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Moderation alone cannot address stress and anxiety when the system rewards quantity over quality. Better metrics and accountable engineering goals are the highest-leverage interventions.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4754880" y="640080"/>
            <a:ext cx="1828800" cy="1645920"/>
          </a:xfrm>
          <a:prstGeom prst="ellipse">
            <a:avLst/>
          </a:prstGeom>
          <a:solidFill>
            <a:srgbClr val="DDDDDD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4754880" y="640080"/>
            <a:ext cx="182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Content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(not the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problem)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6400800" y="1463040"/>
            <a:ext cx="1828800" cy="1645920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6400800" y="1463040"/>
            <a:ext cx="182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Delivery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Mechanism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(the problem)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5120640" y="2926080"/>
            <a:ext cx="1828800" cy="1645920"/>
          </a:xfrm>
          <a:prstGeom prst="ellipse">
            <a:avLst/>
          </a:prstGeom>
          <a:solidFill>
            <a:srgbClr val="4ABCBC"/>
          </a:solidFill>
          <a:ln cap="flat" cmpd="sng" w="12700">
            <a:solidFill>
              <a:srgbClr val="4A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5120640" y="2926080"/>
            <a:ext cx="182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Autonomy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(the goal)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365760" y="45720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PROPOSED</a:t>
            </a:r>
            <a:endParaRPr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SYSTEM WORKS</a:t>
            </a:r>
            <a:endParaRPr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365760" y="173736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7C5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Headspace demonstrates time-bounded, goal-driven apps retain users without compulsive loops.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365760" y="25603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Research links active, intentional tool use to better well-being than passive scrolling.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365760" y="329184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Ethical engagement can build trust, loyalty, and competitive differentiation in a crowded </a:t>
            </a:r>
            <a:r>
              <a:rPr lang="en-US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productivity tool </a:t>
            </a:r>
            <a:r>
              <a:rPr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market.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5330655" y="689390"/>
            <a:ext cx="1371600" cy="1371600"/>
          </a:xfrm>
          <a:prstGeom prst="roundRect">
            <a:avLst>
              <a:gd fmla="val 10000" name="adj"/>
            </a:avLst>
          </a:prstGeom>
          <a:solidFill>
            <a:srgbClr val="E8E0F5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5330655" y="68939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🔒 Private Data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6793695" y="1238030"/>
            <a:ext cx="1371600" cy="1371600"/>
          </a:xfrm>
          <a:prstGeom prst="roundRect">
            <a:avLst>
              <a:gd fmla="val 10000" name="adj"/>
            </a:avLst>
          </a:prstGeom>
          <a:solidFill>
            <a:srgbClr val="C8EBEB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6793695" y="123803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📊 Insights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5879295" y="2883950"/>
            <a:ext cx="1371600" cy="1371600"/>
          </a:xfrm>
          <a:prstGeom prst="roundRect">
            <a:avLst>
              <a:gd fmla="val 10000" name="adj"/>
            </a:avLst>
          </a:prstGeom>
          <a:solidFill>
            <a:srgbClr val="4A7C59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5879295" y="288395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 User Control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457200" y="731520"/>
            <a:ext cx="3200400" cy="3200400"/>
          </a:xfrm>
          <a:prstGeom prst="ellipse">
            <a:avLst/>
          </a:prstGeom>
          <a:solidFill>
            <a:srgbClr val="E8E8E0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1143000" y="1417320"/>
            <a:ext cx="1828800" cy="1828800"/>
          </a:xfrm>
          <a:prstGeom prst="ellipse">
            <a:avLst/>
          </a:prstGeom>
          <a:solidFill>
            <a:srgbClr val="4ABCBC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1371600" y="4572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Audit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2834640" y="13716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Autonomy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1371600" y="347472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Transparency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274320" y="13716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Arial Black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Metrics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4480560" y="365760"/>
            <a:ext cx="4389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ETHICAL ENGAGEMENT</a:t>
            </a:r>
            <a:endParaRPr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FRAMEWORK</a:t>
            </a:r>
            <a:endParaRPr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4480560" y="137160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AUDIT &amp; AUTONOMY</a:t>
            </a:r>
            <a:endParaRPr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4480560" y="1691640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Evaluate features for effects on student intent, then give users meaningful controls over how and when they engage.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4480560" y="24231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TRANSPARENCY</a:t>
            </a:r>
            <a:endParaRPr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4480560" y="2743200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Make recommendation logic understandable so </a:t>
            </a:r>
            <a:r>
              <a:rPr lang="en-US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users  </a:t>
            </a:r>
            <a:r>
              <a:rPr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can interpret what shapes their experience.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4480560" y="34747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METRICS &amp; CONTINUOUS TESTING</a:t>
            </a:r>
            <a:endParaRPr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4480560" y="3794760"/>
            <a:ext cx="4389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Track well-being alongside engagement KPIs and test iteratively so ethics stays embedded in optimization.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1143000" y="141732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Ethical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Framework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C8EBEB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365760" y="4572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STAGE 1:</a:t>
            </a:r>
            <a:endParaRPr i="0" sz="2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ENGAGEMENT AUDIT</a:t>
            </a:r>
            <a:endParaRPr i="0" sz="2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365760" y="1554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PURPOSE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365760" y="18745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Diagnose which features may drive distraction; understand behavioral impact before changing anything.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365760" y="25603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CHECKS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365760" y="288036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Does it reduce choice, misalign with student intent, or push use past reasonable study limits?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365760" y="3566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OUTPUT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365760" y="388620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 prioritized redesign/monitor list, reviewed cross-functionally and embedded into design reviews.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4572000" y="731520"/>
            <a:ext cx="4114800" cy="685800"/>
          </a:xfrm>
          <a:prstGeom prst="rect">
            <a:avLst/>
          </a:prstGeom>
          <a:solidFill>
            <a:srgbClr val="E8EDE8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4572000" y="73152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1. Identify Features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4" name="Google Shape;244;p17"/>
          <p:cNvCxnSpPr/>
          <p:nvPr/>
        </p:nvCxnSpPr>
        <p:spPr>
          <a:xfrm>
            <a:off x="6629400" y="1417320"/>
            <a:ext cx="0" cy="320040"/>
          </a:xfrm>
          <a:prstGeom prst="straightConnector1">
            <a:avLst/>
          </a:prstGeom>
          <a:noFill/>
          <a:ln cap="flat" cmpd="sng" w="254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7"/>
          <p:cNvSpPr/>
          <p:nvPr/>
        </p:nvSpPr>
        <p:spPr>
          <a:xfrm>
            <a:off x="4572000" y="1737360"/>
            <a:ext cx="4114800" cy="685800"/>
          </a:xfrm>
          <a:prstGeom prst="rect">
            <a:avLst/>
          </a:prstGeom>
          <a:solidFill>
            <a:srgbClr val="E8EDE8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4572000" y="173736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2. Assess Harm Potential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7" name="Google Shape;247;p17"/>
          <p:cNvCxnSpPr/>
          <p:nvPr/>
        </p:nvCxnSpPr>
        <p:spPr>
          <a:xfrm>
            <a:off x="6629400" y="2423160"/>
            <a:ext cx="0" cy="320040"/>
          </a:xfrm>
          <a:prstGeom prst="straightConnector1">
            <a:avLst/>
          </a:prstGeom>
          <a:noFill/>
          <a:ln cap="flat" cmpd="sng" w="254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7"/>
          <p:cNvSpPr/>
          <p:nvPr/>
        </p:nvSpPr>
        <p:spPr>
          <a:xfrm>
            <a:off x="4572000" y="2743200"/>
            <a:ext cx="4114800" cy="685800"/>
          </a:xfrm>
          <a:prstGeom prst="rect">
            <a:avLst/>
          </a:prstGeom>
          <a:solidFill>
            <a:srgbClr val="E8EDE8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4572000" y="274320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3. Cross-Functional Review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0" name="Google Shape;250;p17"/>
          <p:cNvCxnSpPr/>
          <p:nvPr/>
        </p:nvCxnSpPr>
        <p:spPr>
          <a:xfrm>
            <a:off x="6629400" y="3429000"/>
            <a:ext cx="0" cy="320040"/>
          </a:xfrm>
          <a:prstGeom prst="straightConnector1">
            <a:avLst/>
          </a:prstGeom>
          <a:noFill/>
          <a:ln cap="flat" cmpd="sng" w="254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17"/>
          <p:cNvSpPr/>
          <p:nvPr/>
        </p:nvSpPr>
        <p:spPr>
          <a:xfrm>
            <a:off x="4572000" y="3749040"/>
            <a:ext cx="4114800" cy="685800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"/>
          <p:cNvSpPr/>
          <p:nvPr/>
        </p:nvSpPr>
        <p:spPr>
          <a:xfrm>
            <a:off x="4572000" y="3749040"/>
            <a:ext cx="4114800" cy="685800"/>
          </a:xfrm>
          <a:prstGeom prst="rect">
            <a:avLst/>
          </a:prstGeom>
          <a:solidFill>
            <a:srgbClr val="4ABC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Prioritize Changes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365760" y="4572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STAGE 2:</a:t>
            </a:r>
            <a:endParaRPr i="0" sz="2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USER AUTONOMY</a:t>
            </a:r>
            <a:endParaRPr i="0" sz="2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365760" y="164592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Char char="•"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Turn off autoplay by default to shift control back to the student.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365760" y="256032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Char char="•"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Add clear session stopping points to prompt reflection and intentional study choices.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365760" y="347472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Inter"/>
              <a:buChar char="•"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Offer granular notification controls; autonomy-first defaults improve engagement quality.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4754880" y="731520"/>
            <a:ext cx="1645920" cy="1645920"/>
          </a:xfrm>
          <a:prstGeom prst="ellipse">
            <a:avLst/>
          </a:prstGeom>
          <a:solidFill>
            <a:srgbClr val="C8EBE0"/>
          </a:solidFill>
          <a:ln cap="flat" cmpd="sng" w="254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4754880" y="73152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Autoplay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OFF by default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6766560" y="731520"/>
            <a:ext cx="1645920" cy="1645920"/>
          </a:xfrm>
          <a:prstGeom prst="ellipse">
            <a:avLst/>
          </a:prstGeom>
          <a:solidFill>
            <a:srgbClr val="C8D8F0"/>
          </a:solidFill>
          <a:ln cap="flat" cmpd="sng" w="254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6766560" y="731520"/>
            <a:ext cx="1645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Feed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Stopping Points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5769855" y="2845770"/>
            <a:ext cx="1645800" cy="1645800"/>
          </a:xfrm>
          <a:prstGeom prst="ellipse">
            <a:avLst/>
          </a:prstGeom>
          <a:solidFill>
            <a:srgbClr val="F0C8C8"/>
          </a:solidFill>
          <a:ln cap="flat" cmpd="sng" w="254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5769855" y="2845770"/>
            <a:ext cx="16458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Granular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Notification Controls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365760" y="4572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STAGE 3:</a:t>
            </a:r>
            <a:endParaRPr i="0" sz="2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TRANSPARENCY</a:t>
            </a:r>
            <a:endParaRPr i="0" sz="2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365760" y="164592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Reduce information asymmetry by showing clear daily/weekly usage stats and plain-language reasons for recommendations.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365760" y="265176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No need to reveal proprietary algorithm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s: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just be honest about how the system influences attention and choice.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365760" y="365760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Transparency is relatively easy to implement, builds student trust, and often prompts healthy self-regulation.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5029200" y="457200"/>
            <a:ext cx="3200400" cy="4114800"/>
          </a:xfrm>
          <a:prstGeom prst="roundRect">
            <a:avLst>
              <a:gd fmla="val 7143" name="adj"/>
            </a:avLst>
          </a:prstGeom>
          <a:solidFill>
            <a:srgbClr val="222222"/>
          </a:solidFill>
          <a:ln cap="flat" cmpd="sng" w="254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5212080" y="822960"/>
            <a:ext cx="283464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5212080" y="9144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📊 Your Study Stats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5316139" y="1280160"/>
            <a:ext cx="914400" cy="548700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6309360" y="1463040"/>
            <a:ext cx="640080" cy="36576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4A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7040880" y="1371600"/>
            <a:ext cx="731520" cy="457200"/>
          </a:xfrm>
          <a:prstGeom prst="rect">
            <a:avLst/>
          </a:prstGeom>
          <a:solidFill>
            <a:srgbClr val="B5C99A"/>
          </a:solidFill>
          <a:ln cap="flat" cmpd="sng" w="12700">
            <a:solidFill>
              <a:srgbClr val="B5C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5212080" y="2011680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Why we recommend breaks: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Your session has been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45 min</a:t>
            </a:r>
            <a:r>
              <a:rPr lang="en-US" sz="10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i="0" lang="en-US" sz="10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research shows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short breaks improve focus.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5394960" y="3200400"/>
            <a:ext cx="2468880" cy="457200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394960" y="32004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Take a 5-min break ✓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365760" y="45720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WELL-BEING KPIs</a:t>
            </a:r>
            <a:endParaRPr i="0" sz="2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365760" y="1280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WHAT TO TRACK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365760" y="160020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Add signals like late-night usage, compulsive patterns, and rapid session repetition alongside engagement metrics.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365760" y="22860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HOW TO USE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365760" y="260604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Treat them as warnings, incorporate in dashboards and A/B tests, and make trade-offs explicit in sprint reviews.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365760" y="32918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WHY IT MATTERS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365760" y="361188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Turns ethics into measurable, optimizable practice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and signals that student well-being is a first-class KPI.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4572000" y="1371600"/>
            <a:ext cx="685800" cy="685800"/>
          </a:xfrm>
          <a:prstGeom prst="rect">
            <a:avLst/>
          </a:prstGeom>
          <a:solidFill>
            <a:srgbClr val="CC4444"/>
          </a:solidFill>
          <a:ln cap="flat" cmpd="sng" w="12700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4572000" y="13716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😟</a:t>
            </a:r>
            <a:endParaRPr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5394960" y="1371600"/>
            <a:ext cx="685800" cy="685800"/>
          </a:xfrm>
          <a:prstGeom prst="rect">
            <a:avLst/>
          </a:prstGeom>
          <a:solidFill>
            <a:srgbClr val="CC7744"/>
          </a:solidFill>
          <a:ln cap="flat" cmpd="sng" w="12700">
            <a:solidFill>
              <a:srgbClr val="CC77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5394960" y="13716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😕</a:t>
            </a:r>
            <a:endParaRPr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6217920" y="1371600"/>
            <a:ext cx="685800" cy="685800"/>
          </a:xfrm>
          <a:prstGeom prst="rect">
            <a:avLst/>
          </a:prstGeom>
          <a:solidFill>
            <a:srgbClr val="CCAA44"/>
          </a:solidFill>
          <a:ln cap="flat" cmpd="sng" w="12700">
            <a:solidFill>
              <a:srgbClr val="CCA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6217920" y="13716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😐</a:t>
            </a:r>
            <a:endParaRPr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7040880" y="1371600"/>
            <a:ext cx="685800" cy="685800"/>
          </a:xfrm>
          <a:prstGeom prst="rect">
            <a:avLst/>
          </a:prstGeom>
          <a:solidFill>
            <a:srgbClr val="88BB44"/>
          </a:solidFill>
          <a:ln cap="flat" cmpd="sng" w="12700">
            <a:solidFill>
              <a:srgbClr val="88BB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7040880" y="13716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🙂</a:t>
            </a:r>
            <a:endParaRPr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7863840" y="1371600"/>
            <a:ext cx="685800" cy="685800"/>
          </a:xfrm>
          <a:prstGeom prst="rect">
            <a:avLst/>
          </a:prstGeom>
          <a:solidFill>
            <a:srgbClr val="44AA66"/>
          </a:solidFill>
          <a:ln cap="flat" cmpd="sng" w="12700">
            <a:solidFill>
              <a:srgbClr val="44A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7863840" y="13716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😊</a:t>
            </a:r>
            <a:endParaRPr i="0" sz="2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7863840" y="1143000"/>
            <a:ext cx="685800" cy="228600"/>
          </a:xfrm>
          <a:prstGeom prst="rect">
            <a:avLst/>
          </a:prstGeom>
          <a:solidFill>
            <a:srgbClr val="44AA66"/>
          </a:solidFill>
          <a:ln cap="flat" cmpd="sng" w="12700">
            <a:solidFill>
              <a:srgbClr val="44A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7863840" y="114300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Target KPI</a:t>
            </a:r>
            <a:endParaRPr i="0" sz="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313" name="Google Shape;313;p21"/>
          <p:cNvGraphicFramePr/>
          <p:nvPr/>
        </p:nvGraphicFramePr>
        <p:xfrm>
          <a:off x="4389120" y="2560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{7C1E5BB2-D7C2-4537-A615-A6C0F1C8EA38}</a:tableStyleId>
              </a:tblPr>
              <a:tblGrid>
                <a:gridCol w="2148850"/>
                <a:gridCol w="21488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Signal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BCB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Threshold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BCB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Late-night sessions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 11 PM, 3+ nights/week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Rapid session repeats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 2 min apart, 5+ times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switching rate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&gt; 8 apps per hour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Self-reported regret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In-app survey score &lt; 3</a:t>
                      </a:r>
                      <a:endParaRPr sz="11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365760" y="457200"/>
            <a:ext cx="3474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STAGE 5:</a:t>
            </a:r>
            <a:endParaRPr i="0" sz="2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CONTINUOUS</a:t>
            </a:r>
            <a:endParaRPr i="0" sz="2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FEEDBACK</a:t>
            </a:r>
            <a:endParaRPr i="0" sz="2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365760" y="19202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Ongoing measurement</a:t>
            </a:r>
            <a:endParaRPr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365760" y="224028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Track satisfaction, self-reported regret, and signals of compulsive use as the product and users evolve.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365760" y="28803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Multiple feedback channels</a:t>
            </a:r>
            <a:endParaRPr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365760" y="320040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Combine surveys, in-app feedback, and behavioral analytics to detect drift and emerging risks early.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365760" y="3840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Operationalize ethics</a:t>
            </a:r>
            <a:endParaRPr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365760" y="41605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Make well-being metrics part of agile/DevOps so issues stay visible and aren't overridden by short-term KPIs.</a:t>
            </a:r>
            <a:endParaRPr i="0" sz="12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6153220" y="594225"/>
            <a:ext cx="914400" cy="640200"/>
          </a:xfrm>
          <a:prstGeom prst="ellipse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6153220" y="594225"/>
            <a:ext cx="91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Ethics</a:t>
            </a:r>
            <a:endParaRPr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KPI</a:t>
            </a:r>
            <a:endParaRPr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5147380" y="1600065"/>
            <a:ext cx="1005900" cy="640200"/>
          </a:xfrm>
          <a:prstGeom prst="ellipse">
            <a:avLst/>
          </a:prstGeom>
          <a:solidFill>
            <a:srgbClr val="84B59F"/>
          </a:solidFill>
          <a:ln cap="flat" cmpd="sng" w="12700">
            <a:solidFill>
              <a:srgbClr val="84B5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5147380" y="1600065"/>
            <a:ext cx="1005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Surveys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31" name="Google Shape;331;p22"/>
          <p:cNvCxnSpPr/>
          <p:nvPr/>
        </p:nvCxnSpPr>
        <p:spPr>
          <a:xfrm flipH="1">
            <a:off x="5650420" y="1234305"/>
            <a:ext cx="960000" cy="365700"/>
          </a:xfrm>
          <a:prstGeom prst="straightConnector1">
            <a:avLst/>
          </a:prstGeom>
          <a:noFill/>
          <a:ln cap="flat" cmpd="sng" w="1905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22"/>
          <p:cNvSpPr/>
          <p:nvPr/>
        </p:nvSpPr>
        <p:spPr>
          <a:xfrm>
            <a:off x="7159060" y="1600065"/>
            <a:ext cx="1005900" cy="640200"/>
          </a:xfrm>
          <a:prstGeom prst="ellipse">
            <a:avLst/>
          </a:prstGeom>
          <a:solidFill>
            <a:srgbClr val="84B59F"/>
          </a:solidFill>
          <a:ln cap="flat" cmpd="sng" w="12700">
            <a:solidFill>
              <a:srgbClr val="84B5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7159060" y="1600065"/>
            <a:ext cx="1005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In-App</a:t>
            </a:r>
            <a:endParaRPr i="0" sz="1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34" name="Google Shape;334;p22"/>
          <p:cNvCxnSpPr/>
          <p:nvPr/>
        </p:nvCxnSpPr>
        <p:spPr>
          <a:xfrm>
            <a:off x="6610420" y="1234305"/>
            <a:ext cx="1051500" cy="365700"/>
          </a:xfrm>
          <a:prstGeom prst="straightConnector1">
            <a:avLst/>
          </a:prstGeom>
          <a:noFill/>
          <a:ln cap="flat" cmpd="sng" w="1905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22"/>
          <p:cNvSpPr/>
          <p:nvPr/>
        </p:nvSpPr>
        <p:spPr>
          <a:xfrm>
            <a:off x="4663458" y="2761035"/>
            <a:ext cx="914400" cy="731400"/>
          </a:xfrm>
          <a:prstGeom prst="rect">
            <a:avLst/>
          </a:prstGeom>
          <a:solidFill>
            <a:srgbClr val="C8E0C8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4663458" y="2761035"/>
            <a:ext cx="914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Session</a:t>
            </a:r>
            <a:endParaRPr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Data</a:t>
            </a:r>
            <a:endParaRPr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5760738" y="2761035"/>
            <a:ext cx="914400" cy="731400"/>
          </a:xfrm>
          <a:prstGeom prst="rect">
            <a:avLst/>
          </a:prstGeom>
          <a:solidFill>
            <a:srgbClr val="C8E0C8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5760738" y="2761035"/>
            <a:ext cx="914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Well-being</a:t>
            </a:r>
            <a:endParaRPr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Score</a:t>
            </a:r>
            <a:endParaRPr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6858018" y="2761035"/>
            <a:ext cx="914400" cy="731400"/>
          </a:xfrm>
          <a:prstGeom prst="rect">
            <a:avLst/>
          </a:prstGeom>
          <a:solidFill>
            <a:srgbClr val="C8E0C8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6858018" y="2761035"/>
            <a:ext cx="914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Regret</a:t>
            </a:r>
            <a:endParaRPr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Report</a:t>
            </a:r>
            <a:endParaRPr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7955298" y="2761035"/>
            <a:ext cx="914400" cy="731400"/>
          </a:xfrm>
          <a:prstGeom prst="rect">
            <a:avLst/>
          </a:prstGeom>
          <a:solidFill>
            <a:srgbClr val="C8E0C8"/>
          </a:solidFill>
          <a:ln cap="flat" cmpd="sng" w="12700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7955298" y="2761035"/>
            <a:ext cx="914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Sprint</a:t>
            </a:r>
            <a:endParaRPr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Review</a:t>
            </a:r>
            <a:endParaRPr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84A9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274320" y="640080"/>
            <a:ext cx="73152" cy="1188720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502920" y="6400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TECHNICAL LITERACY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502920" y="96012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Learn ML and privacy-preserving data systems to shape how behavioral algorithms are designed and evaluated.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274320" y="2103120"/>
            <a:ext cx="73152" cy="118872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4A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502920" y="2103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HUMAN-CENTERED DESIGN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502920" y="242316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Study UX and HCI to understand student needs, motivations, and cognitive limits that affect ethical outcomes.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274320" y="3566160"/>
            <a:ext cx="73152" cy="1188720"/>
          </a:xfrm>
          <a:prstGeom prst="rect">
            <a:avLst/>
          </a:prstGeom>
          <a:solidFill>
            <a:srgbClr val="6B4F8C"/>
          </a:solidFill>
          <a:ln cap="flat" cmpd="sng" w="12700">
            <a:solidFill>
              <a:srgbClr val="6B4F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502920" y="35661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CROSS-FUNCTIONAL PRACTICE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502920" y="388620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Build product experience to translate principles into engineering trade-offs; impact grows with PM and design collaboration.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4480560" y="457200"/>
            <a:ext cx="4389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PROFESSIONAL</a:t>
            </a:r>
            <a:endParaRPr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CAPABILITY</a:t>
            </a:r>
            <a:endParaRPr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BUILDING</a:t>
            </a:r>
            <a:endParaRPr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4480560" y="2011680"/>
            <a:ext cx="4389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 deliver this system, investing in three core capability areas will ensure both technical quality and ethical rigor throughout the product lifecycle.</a:t>
            </a:r>
            <a:endParaRPr i="0" sz="13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4480560" y="3474720"/>
            <a:ext cx="4297680" cy="914400"/>
          </a:xfrm>
          <a:prstGeom prst="rect">
            <a:avLst/>
          </a:prstGeom>
          <a:solidFill>
            <a:srgbClr val="4A7C59"/>
          </a:solidFill>
          <a:ln cap="flat" cmpd="sng" w="12700">
            <a:solidFill>
              <a:srgbClr val="4A7C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4480560" y="3474720"/>
            <a:ext cx="4297680" cy="914400"/>
          </a:xfrm>
          <a:prstGeom prst="rect">
            <a:avLst/>
          </a:prstGeom>
          <a:solidFill>
            <a:srgbClr val="C8E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Inter"/>
                <a:ea typeface="Inter"/>
                <a:cs typeface="Inter"/>
                <a:sym typeface="Inter"/>
              </a:rPr>
              <a:t>Ethics + Engineering + Design = Responsible Innovation</a:t>
            </a:r>
            <a:endParaRPr i="0" sz="1300" u="none" cap="none" strike="noStrike">
              <a:solidFill>
                <a:srgbClr val="2D2D2D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8F8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4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4ABCBC"/>
          </a:solidFill>
          <a:ln cap="flat" cmpd="sng" w="12700">
            <a:solidFill>
              <a:srgbClr val="4A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365760" y="457200"/>
            <a:ext cx="3474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SHIFT INDUSTRY</a:t>
            </a:r>
            <a:endParaRPr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PRIORITIES</a:t>
            </a:r>
            <a:endParaRPr i="0" sz="2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365760" y="18288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Make ethics a standard workflow step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365760" y="214884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Adopt the ethical engagement framework across product development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not as an add-on, but as a default stage.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365760" y="28346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Redefine success beyond attention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365760" y="315468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Optimize for student value: autonomy, satisfaction, and long-term academic well-being.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24"/>
          <p:cNvSpPr/>
          <p:nvPr/>
        </p:nvSpPr>
        <p:spPr>
          <a:xfrm>
            <a:off x="365760" y="38404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Keep metrics — contextualize them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24"/>
          <p:cNvSpPr/>
          <p:nvPr/>
        </p:nvSpPr>
        <p:spPr>
          <a:xfrm>
            <a:off x="365760" y="41605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Use engagement as one input within a richer evaluation system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profitable and responsible simultaneously.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4572000" y="640080"/>
            <a:ext cx="502920" cy="502920"/>
          </a:xfrm>
          <a:prstGeom prst="rect">
            <a:avLst/>
          </a:prstGeom>
          <a:solidFill>
            <a:srgbClr val="4ABC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5257800" y="6400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Prototype three-layer system architecture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4572000" y="1463040"/>
            <a:ext cx="502920" cy="502920"/>
          </a:xfrm>
          <a:prstGeom prst="rect">
            <a:avLst/>
          </a:prstGeom>
          <a:solidFill>
            <a:srgbClr val="4ABC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5257800" y="14630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Implement probabilistic ML model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5257800" y="22860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Deploy locally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keep data on-device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4572000" y="3108960"/>
            <a:ext cx="502920" cy="502920"/>
          </a:xfrm>
          <a:prstGeom prst="rect">
            <a:avLst/>
          </a:prstGeom>
          <a:solidFill>
            <a:srgbClr val="4ABC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5257800" y="31089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Design non-intrusive feedback loops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4572000" y="3931920"/>
            <a:ext cx="502920" cy="502920"/>
          </a:xfrm>
          <a:prstGeom prst="rect">
            <a:avLst/>
          </a:prstGeom>
          <a:solidFill>
            <a:srgbClr val="4ABC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5257800" y="39319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Validate with senior developer &amp; users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4572000" y="2286000"/>
            <a:ext cx="502800" cy="502800"/>
          </a:xfrm>
          <a:prstGeom prst="rect">
            <a:avLst/>
          </a:prstGeom>
          <a:solidFill>
            <a:srgbClr val="4ABCB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2D2D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C8EBEB"/>
          </a:solidFill>
          <a:ln cap="flat" cmpd="sng" w="12700">
            <a:solidFill>
              <a:srgbClr val="B5C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365760" y="548640"/>
            <a:ext cx="3749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REDEFINING</a:t>
            </a:r>
            <a:endParaRPr i="0" sz="3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PRODUCTIVITY</a:t>
            </a:r>
            <a:endParaRPr i="0" sz="30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365760" y="21031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Productivity tools aren't the enemy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365760" y="242316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The problem is unethical design that extracts attention instead of supporting student self-regulation.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365760" y="30632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An engineering responsibility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365760" y="338328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Build for human cognitive limits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with clear frameworks and metrics</a:t>
            </a:r>
            <a:r>
              <a:rPr lang="en-US" sz="12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so products can be both engaging and humane.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365760" y="40233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Solvable and actionable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365760" y="434340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Unethical engagement design can be redesigned starting with the systems we choose to ship to students.</a:t>
            </a:r>
            <a:endParaRPr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4754880" y="1371600"/>
            <a:ext cx="4023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5F5F0"/>
                </a:solidFill>
                <a:latin typeface="Inter"/>
                <a:ea typeface="Inter"/>
                <a:cs typeface="Inter"/>
                <a:sym typeface="Inter"/>
              </a:rPr>
              <a:t>Privacy. Autonomy.</a:t>
            </a:r>
            <a:endParaRPr i="0" sz="2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5F5F0"/>
                </a:solidFill>
                <a:latin typeface="Inter"/>
                <a:ea typeface="Inter"/>
                <a:cs typeface="Inter"/>
                <a:sym typeface="Inter"/>
              </a:rPr>
              <a:t>Well-being.</a:t>
            </a:r>
            <a:endParaRPr i="0" sz="28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4754880" y="292608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F5F5F0"/>
                </a:solidFill>
                <a:latin typeface="Inter"/>
                <a:ea typeface="Inter"/>
                <a:cs typeface="Inter"/>
                <a:sym typeface="Inter"/>
              </a:rPr>
              <a:t>A privacy-conscious ML system is the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F5F5F0"/>
                </a:solidFill>
                <a:latin typeface="Inter"/>
                <a:ea typeface="Inter"/>
                <a:cs typeface="Inter"/>
                <a:sym typeface="Inter"/>
              </a:rPr>
              <a:t>most viable, ethical, and commercially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0"/>
              </a:buClr>
              <a:buSzPts val="1300"/>
              <a:buFont typeface="Arial"/>
              <a:buNone/>
            </a:pPr>
            <a:r>
              <a:rPr i="0" lang="en-US" sz="1300" u="none" cap="none" strike="noStrike">
                <a:solidFill>
                  <a:srgbClr val="F5F5F0"/>
                </a:solidFill>
                <a:latin typeface="Inter"/>
                <a:ea typeface="Inter"/>
                <a:cs typeface="Inter"/>
                <a:sym typeface="Inter"/>
              </a:rPr>
              <a:t>promising solution for student distraction.</a:t>
            </a:r>
            <a:endParaRPr i="0" sz="1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p25"/>
          <p:cNvSpPr/>
          <p:nvPr/>
        </p:nvSpPr>
        <p:spPr>
          <a:xfrm>
            <a:off x="4754880" y="43891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Isha Shenoy  ·  ishenoy@uwaterloo.ca</a:t>
            </a:r>
            <a:endParaRPr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2026-04-02T16:01:41Z</dcterms:created>
  <dc:creator>PptxGenJS</dc:creator>
</cp:coreProperties>
</file>